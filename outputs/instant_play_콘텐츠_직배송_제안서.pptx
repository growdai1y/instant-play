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33af3d6d44f41" /><Relationship Type="http://schemas.openxmlformats.org/officeDocument/2006/relationships/extended-properties" Target="/docProps/app.xml" Id="Rd798a6abb54b4bdf" /><Relationship Type="http://schemas.openxmlformats.org/officeDocument/2006/relationships/officeDocument" Target="/ppt/presentation.xml" Id="R2b7b69b4039c4d1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17e075b8e4d4245"/>
  </p:sldMasterIdLst>
  <p:notesMasterIdLst>
    <p:notesMasterId xmlns:r="http://schemas.openxmlformats.org/officeDocument/2006/relationships" r:id="R75ec816d667a4a80"/>
  </p:notesMasterIdLst>
  <p:sldIdLst>
    <p:sldId xmlns:r="http://schemas.openxmlformats.org/officeDocument/2006/relationships" id="256" r:id="R660ba898d40f40aa"/>
    <p:sldId xmlns:r="http://schemas.openxmlformats.org/officeDocument/2006/relationships" id="257" r:id="R4bfec063e26040ba"/>
    <p:sldId xmlns:r="http://schemas.openxmlformats.org/officeDocument/2006/relationships" id="258" r:id="R861d031678614683"/>
    <p:sldId xmlns:r="http://schemas.openxmlformats.org/officeDocument/2006/relationships" id="259" r:id="R1c851b665ddf4d3c"/>
    <p:sldId xmlns:r="http://schemas.openxmlformats.org/officeDocument/2006/relationships" id="260" r:id="R5b232cda7b464faa"/>
    <p:sldId xmlns:r="http://schemas.openxmlformats.org/officeDocument/2006/relationships" id="261" r:id="R0e3e679517ec41fb"/>
    <p:sldId xmlns:r="http://schemas.openxmlformats.org/officeDocument/2006/relationships" id="262" r:id="R2de80ce317354d88"/>
    <p:sldId xmlns:r="http://schemas.openxmlformats.org/officeDocument/2006/relationships" id="263" r:id="Rcb5a3f83d9af411f"/>
    <p:sldId xmlns:r="http://schemas.openxmlformats.org/officeDocument/2006/relationships" id="264" r:id="R6f2b6446cf05400c"/>
    <p:sldId xmlns:r="http://schemas.openxmlformats.org/officeDocument/2006/relationships" id="265" r:id="R8044f08305ca4486"/>
    <p:sldId xmlns:r="http://schemas.openxmlformats.org/officeDocument/2006/relationships" id="266" r:id="Rea6ca6553f084cd4"/>
    <p:sldId xmlns:r="http://schemas.openxmlformats.org/officeDocument/2006/relationships" id="267" r:id="Rb29164bdd8a74b91"/>
    <p:sldId xmlns:r="http://schemas.openxmlformats.org/officeDocument/2006/relationships" id="268" r:id="R1db520822ed44c0e"/>
    <p:sldId xmlns:r="http://schemas.openxmlformats.org/officeDocument/2006/relationships" id="269" r:id="Re43ac99ac53e4fab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36d5350d00c34596"/>
      <p:bold xmlns:r="http://schemas.openxmlformats.org/officeDocument/2006/relationships" r:id="Rf037f71f60ed4cfa"/>
      <p:italic xmlns:r="http://schemas.openxmlformats.org/officeDocument/2006/relationships" r:id="Re209b02b09e14819"/>
      <p:boldItalic xmlns:r="http://schemas.openxmlformats.org/officeDocument/2006/relationships" r:id="R3d896bdfbe6f4c7d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e2ba1701d4dc8" /><Relationship Type="http://schemas.openxmlformats.org/officeDocument/2006/relationships/slideMaster" Target="/ppt/slideMasters/slideMaster1.xml" Id="R617e075b8e4d4245" /><Relationship Type="http://schemas.openxmlformats.org/officeDocument/2006/relationships/notesMaster" Target="/ppt/notesMasters/notesMaster1.xml" Id="R75ec816d667a4a80" /><Relationship Type="http://schemas.openxmlformats.org/officeDocument/2006/relationships/presProps" Target="/ppt/presProps.xml" Id="Rb89126105d0e4d04" /><Relationship Type="http://schemas.openxmlformats.org/officeDocument/2006/relationships/viewProps" Target="/ppt/viewProps.xml" Id="Rc83b640a56bd4095" /><Relationship Type="http://schemas.openxmlformats.org/officeDocument/2006/relationships/tableStyles" Target="/ppt/tableStyles.xml" Id="R02e39d934a1249aa" /><Relationship Type="http://schemas.openxmlformats.org/officeDocument/2006/relationships/font" Target="/ppt/fonts/font.dat" Id="R36d5350d00c34596" /><Relationship Type="http://schemas.openxmlformats.org/officeDocument/2006/relationships/font" Target="/ppt/fonts/font2.dat" Id="Rf037f71f60ed4cfa" /><Relationship Type="http://schemas.openxmlformats.org/officeDocument/2006/relationships/font" Target="/ppt/fonts/font3.dat" Id="Re209b02b09e14819" /><Relationship Type="http://schemas.openxmlformats.org/officeDocument/2006/relationships/font" Target="/ppt/fonts/font4.dat" Id="R3d896bdfbe6f4c7d" /><Relationship Type="http://schemas.openxmlformats.org/officeDocument/2006/relationships/slide" Target="/ppt/slides/slide1.xml" Id="R660ba898d40f40aa" /><Relationship Type="http://schemas.openxmlformats.org/officeDocument/2006/relationships/slide" Target="/ppt/slides/slide2.xml" Id="R4bfec063e26040ba" /><Relationship Type="http://schemas.openxmlformats.org/officeDocument/2006/relationships/slide" Target="/ppt/slides/slide3.xml" Id="R861d031678614683" /><Relationship Type="http://schemas.openxmlformats.org/officeDocument/2006/relationships/slide" Target="/ppt/slides/slide4.xml" Id="R1c851b665ddf4d3c" /><Relationship Type="http://schemas.openxmlformats.org/officeDocument/2006/relationships/slide" Target="/ppt/slides/slide5.xml" Id="R5b232cda7b464faa" /><Relationship Type="http://schemas.openxmlformats.org/officeDocument/2006/relationships/slide" Target="/ppt/slides/slide6.xml" Id="R0e3e679517ec41fb" /><Relationship Type="http://schemas.openxmlformats.org/officeDocument/2006/relationships/slide" Target="/ppt/slides/slide7.xml" Id="R2de80ce317354d88" /><Relationship Type="http://schemas.openxmlformats.org/officeDocument/2006/relationships/slide" Target="/ppt/slides/slide8.xml" Id="Rcb5a3f83d9af411f" /><Relationship Type="http://schemas.openxmlformats.org/officeDocument/2006/relationships/slide" Target="/ppt/slides/slide9.xml" Id="R6f2b6446cf05400c" /><Relationship Type="http://schemas.openxmlformats.org/officeDocument/2006/relationships/slide" Target="/ppt/slides/slide10.xml" Id="R8044f08305ca4486" /><Relationship Type="http://schemas.openxmlformats.org/officeDocument/2006/relationships/slide" Target="/ppt/slides/slide11.xml" Id="Rea6ca6553f084cd4" /><Relationship Type="http://schemas.openxmlformats.org/officeDocument/2006/relationships/slide" Target="/ppt/slides/slide12.xml" Id="Rb29164bdd8a74b91" /><Relationship Type="http://schemas.openxmlformats.org/officeDocument/2006/relationships/slide" Target="/ppt/slides/slide13.xml" Id="R1db520822ed44c0e" /><Relationship Type="http://schemas.openxmlformats.org/officeDocument/2006/relationships/slide" Target="/ppt/slides/slide14.xml" Id="Re43ac99ac53e4f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dfdf5ff6694d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d47cf396064c66" /><Relationship Type="http://schemas.openxmlformats.org/officeDocument/2006/relationships/notesMaster" Target="/ppt/notesMasters/notesMaster1.xml" Id="Rfa9facf6180e41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66660bc2f342bb" /><Relationship Type="http://schemas.openxmlformats.org/officeDocument/2006/relationships/notesMaster" Target="/ppt/notesMasters/notesMaster1.xml" Id="R41ebd072fb51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8108136cff4e4e" /><Relationship Type="http://schemas.openxmlformats.org/officeDocument/2006/relationships/notesMaster" Target="/ppt/notesMasters/notesMaster1.xml" Id="R049e461d655942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e4ed41b33c4c09" /><Relationship Type="http://schemas.openxmlformats.org/officeDocument/2006/relationships/notesMaster" Target="/ppt/notesMasters/notesMaster1.xml" Id="Re150840f20c449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0cf0a77b194061" /><Relationship Type="http://schemas.openxmlformats.org/officeDocument/2006/relationships/notesMaster" Target="/ppt/notesMasters/notesMaster1.xml" Id="R5fdeb8fc157a4f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de12af3ae848dd" /><Relationship Type="http://schemas.openxmlformats.org/officeDocument/2006/relationships/notesMaster" Target="/ppt/notesMasters/notesMaster1.xml" Id="R74fd3ab3872b4e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1f5f879e744906" /><Relationship Type="http://schemas.openxmlformats.org/officeDocument/2006/relationships/notesMaster" Target="/ppt/notesMasters/notesMaster1.xml" Id="Ra45f1c15c1904a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446513aa734283" /><Relationship Type="http://schemas.openxmlformats.org/officeDocument/2006/relationships/notesMaster" Target="/ppt/notesMasters/notesMaster1.xml" Id="R891646e41dee4d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70aa446c2d46dd" /><Relationship Type="http://schemas.openxmlformats.org/officeDocument/2006/relationships/notesMaster" Target="/ppt/notesMasters/notesMaster1.xml" Id="Rd178fc159dfa40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b7750142784475" /><Relationship Type="http://schemas.openxmlformats.org/officeDocument/2006/relationships/notesMaster" Target="/ppt/notesMasters/notesMaster1.xml" Id="R9451a7c9330841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3f512d12fa4036" /><Relationship Type="http://schemas.openxmlformats.org/officeDocument/2006/relationships/notesMaster" Target="/ppt/notesMasters/notesMaster1.xml" Id="Rfc5fdd25dfc644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6622528a77425b" /><Relationship Type="http://schemas.openxmlformats.org/officeDocument/2006/relationships/notesMaster" Target="/ppt/notesMasters/notesMaster1.xml" Id="R5f0aa724dfa247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0dbf93181c43e6" /><Relationship Type="http://schemas.openxmlformats.org/officeDocument/2006/relationships/notesMaster" Target="/ppt/notesMasters/notesMaster1.xml" Id="Rab54df25416647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996631047d4b19" /><Relationship Type="http://schemas.openxmlformats.org/officeDocument/2006/relationships/notesMaster" Target="/ppt/notesMasters/notesMaster1.xml" Id="R1be147d4f765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앱을 하나 더 만드는 제안이 아닙니다. 외부 콘텐츠가 당사 TV 경험 안으로 들어오게 만드는 공급·권한·재생 구조입니다.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문제는 콘텐츠 검색이 아니라 마지막 재생 단계의 마찰입니다. 추천을 잘해도 앱 전환과 재로그인에서 경험을 잃습니다.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 아이디어가 푸는 핵심 사업 문제는 자체 콘텐츠가 닿지 못하는 공백입니다. 콘텐츠 폭이 줄면 추천과 수익화도 동시에 약해집니다.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독립 OTT를 하나 더 만드는 전략이 아닙니다. 외부 VOD의 계약된 타이틀을 당사 발견·조건·재생 흐름에 편입하는 유통 레이어입니다.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직배송은 사업적 표현입니다. 원본과 장기 토큰을 추천 카탈로그에 미리 쌓지 않고, 재생 시점에 권한과 동적 재생정보를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화면에서는 한 번의 선택이지만, 뒤에서는 조건 판정·업체 권한·실행 검증이 순서대로 닫혀야 재생됩니다.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광고나 결제 자체가 차별점은 아닙니다. 조건 결과, 업체 수락, 권한, 실제 재생, 정산 상태를 같은 거래로 연결하는 구조가 차별점입니다.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플랫폼은 조건과 실행 가능성을 판단하고, 업체는 콘텐츠 권리를 최종 판단합니다. 단말은 결과와 능력을 보고하고 검증된 정보로 재생합니다.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업체가 지원한다고 적은 목록은 후보일 뿐입니다. 실제 시험을 통과한 정적 조합과 버전만 추천·실행의 기준으로 저장합니다.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플랫폼은 광고·결제·프로모션 조건을 판단합니다. 업체는 그 결과를 확인한 뒤 자기 권리정책으로 독립 승인합니다.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즉시 재생은 무검증 재생이 아닙니다. 업체 응답이 등록 때 검증한 조합·버전과 단말 능력에 맞는지 확인한 뒤 동적 정보를 전달하거나 취득하게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조건별 경제적 의미는 달라도 같은 권한 거래로 묶입니다. 그래서 수락, 권한, 실제 재생, 정산 확정·취소·조정 또는 정산 없음의 근거를 추적할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목표는 콘텐츠를 한 번 입점시키는 것이 아니라, 공급자가 붙을수록 타이틀 추가 비용과 시간이 낮아지는 반복 가능한 파이프라인을 만드는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요약하면, 대형 OTT의 규모를 복제하지 않고도 외부 VOD를 타이틀 단위로 편입해 당사 콘텐츠 공백을 보완하고 TV 안에서 재생과 수익화를 연결하는 제안입니다.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e61e2e56c4d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2ecc79c2647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7329be31f43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6346b632449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01e7aee2f49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ba364793e4ff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5914d4718403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65640ce54482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f6afb8e57446c3" /><Relationship Type="http://schemas.openxmlformats.org/officeDocument/2006/relationships/slideLayout" Target="/ppt/slideLayouts/slideLayout1.xml" Id="R95f456aeac984086" /><Relationship Type="http://schemas.openxmlformats.org/officeDocument/2006/relationships/slideLayout" Target="/ppt/slideLayouts/slideLayout2.xml" Id="R690953aa22b74360" /><Relationship Type="http://schemas.openxmlformats.org/officeDocument/2006/relationships/slideLayout" Target="/ppt/slideLayouts/slideLayout3.xml" Id="Rcac282c6ea0248c6" /><Relationship Type="http://schemas.openxmlformats.org/officeDocument/2006/relationships/slideLayout" Target="/ppt/slideLayouts/slideLayout4.xml" Id="R67c107e5062d4d30" /><Relationship Type="http://schemas.openxmlformats.org/officeDocument/2006/relationships/slideLayout" Target="/ppt/slideLayouts/slideLayout5.xml" Id="R3dbaefc85e3b4cbe" /><Relationship Type="http://schemas.openxmlformats.org/officeDocument/2006/relationships/slideLayout" Target="/ppt/slideLayouts/slideLayout6.xml" Id="R188b4dd0989f4a67" /><Relationship Type="http://schemas.openxmlformats.org/officeDocument/2006/relationships/slideLayout" Target="/ppt/slideLayouts/slideLayout7.xml" Id="R710c8f13ad8e4364" /><Relationship Type="http://schemas.openxmlformats.org/officeDocument/2006/relationships/slideLayout" Target="/ppt/slideLayouts/slideLayout8.xml" Id="Rb1be1678046240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f456aeac984086"/>
    <p:sldLayoutId xmlns:r="http://schemas.openxmlformats.org/officeDocument/2006/relationships" id="2147483650" r:id="R690953aa22b74360"/>
    <p:sldLayoutId xmlns:r="http://schemas.openxmlformats.org/officeDocument/2006/relationships" id="2147483651" r:id="Rcac282c6ea0248c6"/>
    <p:sldLayoutId xmlns:r="http://schemas.openxmlformats.org/officeDocument/2006/relationships" id="2147483652" r:id="R67c107e5062d4d30"/>
    <p:sldLayoutId xmlns:r="http://schemas.openxmlformats.org/officeDocument/2006/relationships" id="2147483653" r:id="R3dbaefc85e3b4cbe"/>
    <p:sldLayoutId xmlns:r="http://schemas.openxmlformats.org/officeDocument/2006/relationships" id="2147483654" r:id="R188b4dd0989f4a67"/>
    <p:sldLayoutId xmlns:r="http://schemas.openxmlformats.org/officeDocument/2006/relationships" id="2147483655" r:id="R710c8f13ad8e4364"/>
    <p:sldLayoutId xmlns:r="http://schemas.openxmlformats.org/officeDocument/2006/relationships" id="2147483656" r:id="Rb1be16780462407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d642f0be0438f" /><Relationship Type="http://schemas.openxmlformats.org/officeDocument/2006/relationships/notesSlide" Target="/ppt/notesSlides/notesSlide1.xml" Id="R26ce34df755f4d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a0d1b7f61431b" /><Relationship Type="http://schemas.openxmlformats.org/officeDocument/2006/relationships/notesSlide" Target="/ppt/notesSlides/notesSlide2.xml" Id="R5d18c17804084a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c5dfb1848434b" /><Relationship Type="http://schemas.openxmlformats.org/officeDocument/2006/relationships/notesSlide" Target="/ppt/notesSlides/notesSlide3.xml" Id="Rd2834c50329244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52848c65643c7" /><Relationship Type="http://schemas.openxmlformats.org/officeDocument/2006/relationships/notesSlide" Target="/ppt/notesSlides/notesSlide4.xml" Id="R8845042e565d47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e9a82e7f6478b" /><Relationship Type="http://schemas.openxmlformats.org/officeDocument/2006/relationships/notesSlide" Target="/ppt/notesSlides/notesSlide5.xml" Id="R79559d11824d4d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41f4862de4b2d" /><Relationship Type="http://schemas.openxmlformats.org/officeDocument/2006/relationships/notesSlide" Target="/ppt/notesSlides/notesSlide6.xml" Id="R836baebe43c74b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c603d8b6d41f4" /><Relationship Type="http://schemas.openxmlformats.org/officeDocument/2006/relationships/notesSlide" Target="/ppt/notesSlides/notesSlide7.xml" Id="R358622f789d844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ea66b122a4dfa" /><Relationship Type="http://schemas.openxmlformats.org/officeDocument/2006/relationships/notesSlide" Target="/ppt/notesSlides/notesSlide8.xml" Id="R11d4b3e7d11e4c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7e84ef3c94c3d" /><Relationship Type="http://schemas.openxmlformats.org/officeDocument/2006/relationships/notesSlide" Target="/ppt/notesSlides/notesSlide9.xml" Id="Rc0c54076cafd41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d95feecc346c3" /><Relationship Type="http://schemas.openxmlformats.org/officeDocument/2006/relationships/notesSlide" Target="/ppt/notesSlides/notesSlide10.xml" Id="Re64f29db764a40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44dd5064a41d4" /><Relationship Type="http://schemas.openxmlformats.org/officeDocument/2006/relationships/notesSlide" Target="/ppt/notesSlides/notesSlide11.xml" Id="Rf384a6366fbc4b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752fb221046e9" /><Relationship Type="http://schemas.openxmlformats.org/officeDocument/2006/relationships/notesSlide" Target="/ppt/notesSlides/notesSlide12.xml" Id="Ra904eb2d9f0d45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3755ef6414d6e" /><Relationship Type="http://schemas.openxmlformats.org/officeDocument/2006/relationships/notesSlide" Target="/ppt/notesSlides/notesSlide13.xml" Id="Re6e8edb44f104e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0c07308844ccd" /><Relationship Type="http://schemas.openxmlformats.org/officeDocument/2006/relationships/notesSlide" Target="/ppt/notesSlides/notesSlide14.xml" Id="R4db0381678b34f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앱을 찾는 TV에서,</a:t>
            </a:r>
          </a:p>
          <a:p xmlns:a="http://schemas.openxmlformats.org/drawingml/2006/main">
            <a:r>
              <a:rPr sz="7200">
                <a:solidFill>
                  <a:srgbClr val="3D8DFF"/>
                </a:solidFill>
              </a:rPr>
              <a:t>콘텐츠가 찾아오는 TV로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외부 VOD를 타이틀 단위로 편입해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당사 TV에서 바로 재생하고 수익화하는 구조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INSTANT PLAY · CONTENT DIRECT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콘텐츠 하나 보려다, 앱만 세 번 바꿉니다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지금 · APP-CENTRIC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앱 찾기</a:t>
            </a:r>
          </a:p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다시 로그인</a:t>
            </a:r>
          </a:p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재생 전 이탈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바꾸기 · CONTENT-CENTRIC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콘텐츠 선택</a:t>
            </a:r>
          </a:p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조건 처리</a:t>
            </a:r>
          </a:p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TV에서 바로 재생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지금 TV의 VOD 경험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추천은 한 화면에서 시작하지만, 재생은 업체별 앱·계정·결제·플레이어로 흩어집니다.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우리의 진짜 병목은 ‘콘텐츠 공백’입니다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연동비가 반복된다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업체가 늘 때마다 같은 일을 다시 합니다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수익화가 막힌다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볼 것이 없으면 광고·결제도 없습니다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카탈로그가 얇다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추천할 수 있는 폭이 좁습니다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앱보다 먼저 풀어야 할 것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자체 제작·직매입만으로 모든 취향을 채우기 어렵고, 업체별 일회성 연동은 느리고 비쌉니다. 콘텐츠가 적으면 추천·체류·수익 기회도 함께 줄어듭니다.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Netflix·YouTube를 이기자는 얘기가 아닙니다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2000" b="1">
                <a:solidFill>
                  <a:srgbClr val="000000"/>
                </a:solidFill>
              </a:rPr>
              <a:t>① 경쟁하지 않는다</a:t>
            </a: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000000"/>
                </a:solidFill>
              </a:rPr>
              <a:t>구독자·오리지널 규모전을 복제하지 않습니다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2000" b="1">
                <a:solidFill>
                  <a:srgbClr val="000000"/>
                </a:solidFill>
              </a:rPr>
              <a:t>② 콘텐츠만 편입</a:t>
            </a: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000000"/>
                </a:solidFill>
              </a:rPr>
              <a:t>외부 VOD 전체가 아니라 계약된 타이틀을 건별로 연결합니다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10"/>
              </a:spcAft>
              <a:buNone/>
            </a:pPr>
            <a:r>
              <a:rPr sz="2000" b="1">
                <a:solidFill>
                  <a:srgbClr val="000000"/>
                </a:solidFill>
              </a:rPr>
              <a:t>③ 공급망을 만든다</a:t>
            </a: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000000"/>
                </a:solidFill>
              </a:rPr>
              <a:t>한 번 맞춘 연동 규격으로 콘텐츠를 계속 추가합니다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필요한 순간, 콘텐츠가 TV로 ‘직배송’됩니다</a:t>
            </a:r>
          </a:p>
        </p:txBody>
      </p:sp>
      <p:cxnSp>
        <p:nvCxnSpPr>
          <p:cNvPr id="3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1. 발견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당사 추천면에서 외부 VOD를 고릅니다. 사용자는 업체 앱을 찾지 않습니다.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2. 권한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광고·결제·프로모션 조건을 처리하고, 업체가 한시적 재생권한을 발급합니다.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3. 재생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미리 검증된 재생조합과 맞을 때만 TV 플레이어로 연결합니다.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업체 승인</a:t>
            </a: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TV 추천</a:t>
            </a: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즉시 재생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사용자에겐 한 번의 클릭, 뒤에서는 네 단계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② 조건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광고·결제·프로모션 결과를 플랫폼이 최종 판정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① 선택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당사 추천 화면에서 콘텐츠 선택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④ 재생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검증조합·버전·단말 능력이 맞을 때만 시작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③ 권한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외부 업체가 결과와 권리정책을 확인해 한시적 권한 발급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빠른 이유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‘즉시 재생’은 검증을 생략하는 게 아니라, 검증을 앞당겨 재생 순간의 마찰을 줄이는 방식입니다.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수익모델은 달라도, 돈의 근거는 한 거래로 묶입니다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3D8DFF"/>
                </a:solidFill>
              </a:rPr>
              <a:t>광고 시청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완료 결과와 배분 기준을 묶어 광고 정산 근거 생성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사용자 결제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승인 금액·통화·가격정책을 확인해 결제 정산 근거 생성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플랫폼 부담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캠페인·예산 예약을 업체 지급 의무와 연결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업체 부담 무료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캠페인 적격성을 확인하고 ‘정산 없음’으로 기록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TV·플랫폼·VOD 업체가 역할을 나눕니다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5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등록 관리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업체·콘텐츠·조건
프로필 버전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5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사전 검증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후보 재생조합을
실제로 재생 시험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5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실행 검증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응답 구성·버전
단말 호환 확인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5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거래 추적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조건 결과·권한
재생·정산 연결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5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TV / 단말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콘텐츠 선택·조건 실행
원천 결과 보고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5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플랫폼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조건 충족 최종 판정
권한 요청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5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VOD 업체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결과 확인·권리정책
한시적 권한 발급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5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DRM / 재생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라이선스 취득
콘텐츠 재생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붙이기 전에, 실제로 틀어봅니다</a:t>
            </a:r>
          </a:p>
        </p:txBody>
      </p:sp>
      <p:cxnSp>
        <p:nvCxnSpPr>
          <p:cNvPr id="3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1. 등록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업체·콘텐츠·조건·결과·재생 프로필과 버전을 등록합니다.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2. 시험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검증용 권한으로 매니페스트·DRM·재생 개시를 실제 확인합니다.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3. 활성화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성공한 조합만 검증집합에 넣고 추천을 엽니다. 바뀌면 끄고 다시 검증합니다.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실재생</a:t>
            </a: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후보</a:t>
            </a: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추천 ON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재생 허락은 두 번 받습니다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GATE 1 · 플랫폼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원천 결과 확인</a:t>
            </a:r>
          </a:p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콘텐츠별 기준으로 최종 판정</a:t>
            </a:r>
          </a:p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구조화된 결과 데이터 생성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GATE 2 · VOD 업체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결과 규칙·버전 확인</a:t>
            </a:r>
          </a:p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지역·기간·동시 재생 정책 적용</a:t>
            </a:r>
          </a:p>
          <a:p xmlns:a="http://schemas.openxmlformats.org/drawingml/2006/main">
            <a:pPr marL="0" indent="0">
              <a:spcAft>
                <a:spcPts val="2"/>
              </a:spcAft>
              <a:buNone/>
            </a:pPr>
            <a:r>
              <a:rPr sz="1400">
                <a:solidFill>
                  <a:srgbClr val="000000"/>
                </a:solidFill>
              </a:rPr>
              <a:t>수락 요청에만 한시적 권한 발급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둘은 같은 판단이 아닙니다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플랫폼의 ‘조건 충족’과 업체의 ‘권한 승인’ 중 하나만 통과해서는 재생되지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맞는 권한 + 맞는 재생조합일 때만 TV로 보냅니다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업체 응답을 받았다고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끝이 아닙니다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거래·세션·콘텐츠 ID 일치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1600" b="1"/>
              <a:t>플랫폼이 검증집합과 다시 대조합니다.</a:t>
            </a:r>
          </a:p>
          <a:p xmlns:a="http://schemas.openxmlformats.org/drawingml/2006/main">
            <a:pPr marL="0" indent="0">
              <a:spcAft>
                <a:spcPts val="4"/>
              </a:spcAft>
              <a:buNone/>
            </a:pPr>
            <a:r>
              <a:rPr sz="1600" b="1">
                <a:solidFill>
                  <a:srgbClr val="3D8DFF"/>
                </a:solidFill>
              </a:rPr>
              <a:t>일치하면</a:t>
            </a:r>
          </a:p>
          <a:p xmlns:a="http://schemas.openxmlformats.org/drawingml/2006/main">
            <a:pPr marL="0" indent="0">
              <a:spcAft>
                <a:spcPts val="3"/>
              </a:spcAft>
              <a:buNone/>
            </a:pPr>
            <a:r>
              <a:rPr sz="1400"/>
              <a:t>기준 · 업체 → 플랫폼 → TV</a:t>
            </a:r>
          </a:p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1400"/>
              <a:t>대안 · 플랫폼 승인 후 TV가 업체에서 직접 취득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400">
                <a:solidFill>
                  <a:srgbClr val="4B5563"/>
                </a:solidFill>
              </a:rPr>
              <a:t>불일치하면 동적 URL·토큰을 막고 추천을 끈 뒤 갱신 또는 재검증합니다.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B5563"/>
                </a:solidFill>
              </a:rPr>
              <a:t>※ ‘직배송’은 두 전달 경로를 아우르는 사업적 표현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조건·결과·등록 버전 일치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업체 수락·초기 상태 존재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검증된 재생조합·프로필 일치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단말 지원·유효시간 충족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한 거래 ID가 돈의 근거를 끝까지 연결합니다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grantTransactionId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조건 결과 → 업체 수락 → 권한 발급 → 실제 재생 → 정산 상태를 하나로 추적합니다.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조건 / 상태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업체가 확인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초기 상태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재생 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돈의 의미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광고 시청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완료·캠페인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확정 / 취소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광고 배분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사용자 결제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금액·통화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확정 / 취소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결제 정산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플랫폼 프로모션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예산·적격성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확정 / 조정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업체 지급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업체 무료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캠페인·권리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NO_SETTLEMENT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상태 유지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대가 없음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결과 수락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정산 대기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근거 생성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CONFIRMED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기준 충족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정산 확정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CANCELLED / ADJUSTED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취소·재산정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취소 / 조정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NO_SETTLEMENT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업체 무료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정산 없음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유지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지급 없음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한 번 연결하면, 콘텐츠는 건별로 계속 붙습니다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콘텐츠는 건별 편입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타이틀마다 메타데이터·조건·버전만 추가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연동은 재사용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업체 단위 권한·재생 규격은 한 번 맞추고 반복 사용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카탈로그는 계속 확장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추천 폭 → TV 체류 → 수익 기회를 함께 키움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600" b="1">
                <a:solidFill>
                  <a:srgbClr val="3D8DFF"/>
                </a:solidFill>
              </a:rPr>
              <a:t>추가 비용은 낮아짐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0000"/>
                </a:solidFill>
              </a:rPr>
              <a:t>새 앱·장기 URL 보관 없이 출시 시간과 반복 비용 절감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1800" b="1">
                <a:solidFill>
                  <a:srgbClr val="000000"/>
                </a:solidFill>
              </a:rPr>
              <a:t>콘텐츠 공백을 공급망으로 바꾸기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00000"/>
                </a:solidFill>
              </a:rPr>
              <a:t>제작·직매입만으로 채우기 어려운 수요를, 재사용 가능한 외부 VOD 연동으로 보완합니다.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콘텐츠가 부족하면,</a:t>
            </a:r>
          </a:p>
          <a:p xmlns:a="http://schemas.openxmlformats.org/drawingml/2006/main">
            <a:r>
              <a:rPr sz="7200"/>
              <a:t>전부 사오지 말고 </a:t>
            </a:r>
            <a:r>
              <a:rPr sz="7200">
                <a:solidFill>
                  <a:srgbClr val="3D8DFF"/>
                </a:solidFill>
              </a:rPr>
              <a:t>연결해서 보냅니다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타이틀 단위 편입</a:t>
            </a:r>
          </a:p>
          <a:p xmlns:a="http://schemas.openxmlformats.org/drawingml/2006/main">
            <a:r>
              <a:rPr sz="2000"/>
              <a:t>권한은 업체, 경험은 당사</a:t>
            </a:r>
          </a:p>
          <a:p xmlns:a="http://schemas.openxmlformats.org/drawingml/2006/main">
            <a:r>
              <a:rPr sz="2000"/>
              <a:t>TV 직배송으로 재생·수익 연결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THE ONE-LINER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2026-07-22T02:48:51.2740000Z</dcterms:created>
  <dcterms:modified xsi:type="dcterms:W3CDTF">2026-07-22T02:48:51.2740000Z</dcterms:modified>
</coreProperties>
</file>